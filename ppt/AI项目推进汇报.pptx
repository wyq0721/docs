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731520"/>
            <a:ext cx="6400800" cy="6400800"/>
          </a:xfrm>
          <a:prstGeom prst="ellipse">
            <a:avLst/>
          </a:prstGeom>
          <a:solidFill>
            <a:srgbClr val="0F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3200400"/>
            <a:ext cx="4572000" cy="4572000"/>
          </a:xfrm>
          <a:prstGeom prst="ellipse">
            <a:avLst/>
          </a:prstGeom>
          <a:solidFill>
            <a:srgbClr val="0F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880360"/>
            <a:ext cx="7772400" cy="82296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8686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</a:rPr>
              <a:t>AI 项目推进汇报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BFD8"/>
                </a:solidFill>
              </a:rPr>
              <a:t>从试点探索到规模化落地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2803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0B0"/>
                </a:solidFill>
              </a:rPr>
              <a:t>启动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9888" y="4389120"/>
            <a:ext cx="804672" cy="8229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4560" y="4114800"/>
            <a:ext cx="640080" cy="64008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482803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0B0"/>
                </a:solidFill>
              </a:rPr>
              <a:t>探索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928" y="4389120"/>
            <a:ext cx="804672" cy="8229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4114800"/>
            <a:ext cx="640080" cy="64008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482803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0B0"/>
                </a:solidFill>
              </a:rPr>
              <a:t>规模化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4389120"/>
            <a:ext cx="804672" cy="8229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20640" y="4114800"/>
            <a:ext cx="640080" cy="6400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482803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0B0"/>
                </a:solidFill>
              </a:rPr>
              <a:t>当前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0B0"/>
                </a:solidFill>
              </a:rPr>
              <a:t>项目团队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5577840" cy="1170432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640080" cy="117043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97280"/>
            <a:ext cx="137160" cy="1170432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3716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项目总览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背景·目标·概览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487168"/>
            <a:ext cx="5577840" cy="1170432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" y="2487168"/>
            <a:ext cx="640080" cy="1170432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487168"/>
            <a:ext cx="137160" cy="117043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761487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700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推进时间线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45535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四阶段路径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877056"/>
            <a:ext cx="5577840" cy="1170432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3877056"/>
            <a:ext cx="640080" cy="117043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877056"/>
            <a:ext cx="137160" cy="117043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" y="4151376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5993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典型案例库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3542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场景·流程·成果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266944"/>
            <a:ext cx="5577840" cy="1170432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" y="5266944"/>
            <a:ext cx="640080" cy="1170432"/>
          </a:xfrm>
          <a:prstGeom prst="roundRect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266944"/>
            <a:ext cx="137160" cy="1170432"/>
          </a:xfrm>
          <a:prstGeom prst="rect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" y="5541264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44982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方法论沉淀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92531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选择·推进·提示词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1097280"/>
            <a:ext cx="5577840" cy="1170432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1097280"/>
            <a:ext cx="640080" cy="117043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1097280"/>
            <a:ext cx="137160" cy="1170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9944" y="13716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2801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效果与价值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17556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效率·质量·指标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2487168"/>
            <a:ext cx="5577840" cy="1170432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55080" y="2487168"/>
            <a:ext cx="640080" cy="1170432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2487168"/>
            <a:ext cx="137160" cy="1170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9944" y="2761487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26700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风险与治理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3145535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边界·审核·治理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877056"/>
            <a:ext cx="5577840" cy="1170432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55080" y="3877056"/>
            <a:ext cx="640080" cy="1170432"/>
          </a:xfrm>
          <a:prstGeom prst="round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0" y="3877056"/>
            <a:ext cx="137160" cy="117043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9944" y="4151376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05993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对外表达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53542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话术·问答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5080" y="5266944"/>
            <a:ext cx="5577840" cy="1170432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55080" y="5266944"/>
            <a:ext cx="640080" cy="1170432"/>
          </a:xfrm>
          <a:prstGeom prst="round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58000" y="5266944"/>
            <a:ext cx="137160" cy="1170432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5541264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44982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附录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592531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工具·模板·索引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0F52BA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项目总览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FD8"/>
                </a:solidFill>
              </a:rPr>
              <a:t>背景 · 目标 · 快速概览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01 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为什么启动这个项目？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926080" cy="40233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2926080" cy="59436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19072"/>
            <a:ext cx="2926080" cy="155448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现状痛点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011680"/>
            <a:ext cx="2596896" cy="621792"/>
          </a:xfrm>
          <a:prstGeom prst="roundRect">
            <a:avLst/>
          </a:prstGeom>
          <a:solidFill>
            <a:srgbClr val="16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214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重复性工作占用大量时间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2761488"/>
            <a:ext cx="2596896" cy="621792"/>
          </a:xfrm>
          <a:prstGeom prst="roundRect">
            <a:avLst/>
          </a:prstGeom>
          <a:solidFill>
            <a:srgbClr val="16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7121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知识沉淀效率极低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511296"/>
            <a:ext cx="2596896" cy="621792"/>
          </a:xfrm>
          <a:prstGeom prst="roundRect">
            <a:avLst/>
          </a:prstGeom>
          <a:solidFill>
            <a:srgbClr val="16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2102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协作标准不统一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38728" y="3063240"/>
            <a:ext cx="1005840" cy="457200"/>
          </a:xfrm>
          <a:prstGeom prst="rightArrow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280160"/>
            <a:ext cx="2926080" cy="40233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20" y="1280160"/>
            <a:ext cx="2926080" cy="594360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1719072"/>
            <a:ext cx="2926080" cy="15544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1325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为什么选AI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82312" y="2011680"/>
            <a:ext cx="2596896" cy="621792"/>
          </a:xfrm>
          <a:prstGeom prst="roundRect">
            <a:avLst/>
          </a:prstGeom>
          <a:solidFill>
            <a:srgbClr val="16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21214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结构化任务天然适合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82312" y="2761488"/>
            <a:ext cx="2596896" cy="621792"/>
          </a:xfrm>
          <a:prstGeom prst="roundRect">
            <a:avLst/>
          </a:prstGeom>
          <a:solidFill>
            <a:srgbClr val="16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59" y="287121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快速降低起稿门槛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3511296"/>
            <a:ext cx="2596896" cy="621792"/>
          </a:xfrm>
          <a:prstGeom prst="roundRect">
            <a:avLst/>
          </a:prstGeom>
          <a:solidFill>
            <a:srgbClr val="16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59" y="362102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规模复用成为可能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653527" y="3063240"/>
            <a:ext cx="1005840" cy="457200"/>
          </a:xfrm>
          <a:prstGeom prst="rightArrow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32520" y="1280160"/>
            <a:ext cx="2926080" cy="40233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32520" y="1280160"/>
            <a:ext cx="2926080" cy="59436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32520" y="1719072"/>
            <a:ext cx="2926080" cy="15544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1325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预期价值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97112" y="2011680"/>
            <a:ext cx="2596896" cy="621792"/>
          </a:xfrm>
          <a:prstGeom prst="roundRect">
            <a:avLst/>
          </a:prstGeom>
          <a:solidFill>
            <a:srgbClr val="16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21214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效率显著提升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97112" y="2761488"/>
            <a:ext cx="2596896" cy="621792"/>
          </a:xfrm>
          <a:prstGeom prst="roundRect">
            <a:avLst/>
          </a:prstGeom>
          <a:solidFill>
            <a:srgbClr val="16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87121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方法论可以沉淀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97112" y="3511296"/>
            <a:ext cx="2596896" cy="621792"/>
          </a:xfrm>
          <a:prstGeom prst="roundRect">
            <a:avLst/>
          </a:prstGeom>
          <a:solidFill>
            <a:srgbClr val="16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362102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组织能力持续增强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01 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项目目标 · 三阶段里程碑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520440"/>
            <a:ext cx="9418320" cy="91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3080" y="3182112"/>
            <a:ext cx="822960" cy="822960"/>
          </a:xfrm>
          <a:prstGeom prst="ellipse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3218688"/>
            <a:ext cx="822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0B0"/>
                </a:solidFill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2491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52BA"/>
                </a:solidFill>
              </a:rPr>
              <a:t>试点验证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206240"/>
            <a:ext cx="2560320" cy="233172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4206240"/>
            <a:ext cx="2560320" cy="109728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416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 选 2-3 个场景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92861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 快速完成试点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 形成初步方法</a:t>
            </a:r>
          </a:p>
        </p:txBody>
      </p:sp>
      <p:sp>
        <p:nvSpPr>
          <p:cNvPr id="17" name="Oval 16"/>
          <p:cNvSpPr/>
          <p:nvPr/>
        </p:nvSpPr>
        <p:spPr>
          <a:xfrm>
            <a:off x="5074920" y="3182112"/>
            <a:ext cx="822960" cy="82296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218688"/>
            <a:ext cx="822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331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0B0"/>
                </a:solidFill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72491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FD8"/>
                </a:solidFill>
              </a:rPr>
              <a:t>标准化沉淀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206240"/>
            <a:ext cx="2560320" cy="233172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4206240"/>
            <a:ext cx="2560320" cy="10972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416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 建立案例库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92861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 形成模板体系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 初步扩散推广</a:t>
            </a:r>
          </a:p>
        </p:txBody>
      </p:sp>
      <p:sp>
        <p:nvSpPr>
          <p:cNvPr id="26" name="Oval 25"/>
          <p:cNvSpPr/>
          <p:nvPr/>
        </p:nvSpPr>
        <p:spPr>
          <a:xfrm>
            <a:off x="8366759" y="3182112"/>
            <a:ext cx="822960" cy="8229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3218688"/>
            <a:ext cx="822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331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0B0"/>
                </a:solidFill>
              </a:rPr>
              <a:t>Phase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72491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CC71"/>
                </a:solidFill>
              </a:rPr>
              <a:t>规模化推广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4206240"/>
            <a:ext cx="2560320" cy="233172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4206240"/>
            <a:ext cx="256032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4416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 跨团队扩展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92861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 健全治理机制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 方法论成熟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01 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项目快速总览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一张图读懂本项目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188720"/>
            <a:ext cx="3566160" cy="22860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188720"/>
            <a:ext cx="3566160" cy="109728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" y="1389888"/>
            <a:ext cx="749808" cy="749808"/>
          </a:xfrm>
          <a:prstGeom prst="ellipse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408176"/>
            <a:ext cx="749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081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项目名称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92224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AI 辅助工作探索项目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188720"/>
            <a:ext cx="3566160" cy="22860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188720"/>
            <a:ext cx="3566160" cy="10972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16552" y="1389888"/>
            <a:ext cx="749808" cy="749808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1408176"/>
            <a:ext cx="749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4081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当前阶段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792224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规模化推广期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1188720"/>
            <a:ext cx="3566160" cy="22860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11312" y="1188720"/>
            <a:ext cx="3566160" cy="10972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48472" y="1389888"/>
            <a:ext cx="749808" cy="749808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08176"/>
            <a:ext cx="749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4081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核心目标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92224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降本增效 + 知识沉淀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3794760"/>
            <a:ext cx="3566160" cy="22860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" y="3794760"/>
            <a:ext cx="356616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4632" y="3995928"/>
            <a:ext cx="749808" cy="74980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4014216"/>
            <a:ext cx="749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0142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主要成果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398264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案例库 · 方法论 · 审核机制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79392" y="3794760"/>
            <a:ext cx="3566160" cy="22860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79392" y="3794760"/>
            <a:ext cx="3566160" cy="109728"/>
          </a:xfrm>
          <a:prstGeom prst="rect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16552" y="3995928"/>
            <a:ext cx="749808" cy="749808"/>
          </a:xfrm>
          <a:prstGeom prst="ellipse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4014216"/>
            <a:ext cx="749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0142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最大挑战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398264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输出质量把控与审核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11312" y="3794760"/>
            <a:ext cx="3566160" cy="22860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11312" y="3794760"/>
            <a:ext cx="3566160" cy="10972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48472" y="3995928"/>
            <a:ext cx="749808" cy="749808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48472" y="4014216"/>
            <a:ext cx="749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0142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下一步重点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398264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规模化 + 复盘机制完善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0F52BA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推进时间线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FD8"/>
                </a:solidFill>
              </a:rPr>
              <a:t>启动 → 探索 → 规模化 → 当前状态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02 时间线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四阶段推进路径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514600" cy="35661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2514600" cy="64008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45920"/>
            <a:ext cx="2514600" cy="13716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18872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52BA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122529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启动阶段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920240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1168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验证可行性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78608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7004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选定首批场景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36976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2841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收集首批反馈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953512" y="2468880"/>
            <a:ext cx="274320" cy="274320"/>
          </a:xfrm>
          <a:prstGeom prst="rightArrow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46120" y="1143000"/>
            <a:ext cx="2514600" cy="35661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46120" y="1143000"/>
            <a:ext cx="2514600" cy="640080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1645920"/>
            <a:ext cx="2514600" cy="13716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37560" y="118872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1207008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FD8"/>
                </a:solidFill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95928" y="122529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探索阶段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1920240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201168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多方向尝试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2578608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267004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区分有效路径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236976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32841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积累经验教训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788152" y="2468880"/>
            <a:ext cx="274320" cy="274320"/>
          </a:xfrm>
          <a:prstGeom prst="rightArrow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80760" y="1143000"/>
            <a:ext cx="2514600" cy="35661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80760" y="1143000"/>
            <a:ext cx="2514600" cy="64008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0760" y="1645920"/>
            <a:ext cx="2514600" cy="1371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72200" y="118872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207008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9500"/>
                </a:solidFill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122529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规模化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920240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201168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建立模板库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578608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267004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优化标准流程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236976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32841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推广复用实践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8622792" y="2468880"/>
            <a:ext cx="274320" cy="274320"/>
          </a:xfrm>
          <a:prstGeom prst="rightArrow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15400" y="1143000"/>
            <a:ext cx="2514600" cy="35661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915400" y="1143000"/>
            <a:ext cx="25146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15400" y="1645920"/>
            <a:ext cx="2514600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06840" y="118872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6840" y="1207008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CC71"/>
                </a:solidFill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65208" y="122529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当前状态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52560" y="1920240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9720" y="201168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机制持续健全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560" y="2578608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267004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跨团队扩展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52560" y="3236976"/>
            <a:ext cx="2240280" cy="566928"/>
          </a:xfrm>
          <a:prstGeom prst="roundRect">
            <a:avLst/>
          </a:prstGeom>
          <a:solidFill>
            <a:srgbClr val="16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89720" y="332841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·  方法论成熟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" y="4937760"/>
            <a:ext cx="11338560" cy="1554480"/>
          </a:xfrm>
          <a:prstGeom prst="round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047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FD8"/>
                </a:solidFill>
              </a:rPr>
              <a:t>当前进度</a:t>
            </a:r>
          </a:p>
        </p:txBody>
      </p:sp>
      <p:sp>
        <p:nvSpPr>
          <p:cNvPr id="60" name="Oval 59"/>
          <p:cNvSpPr/>
          <p:nvPr/>
        </p:nvSpPr>
        <p:spPr>
          <a:xfrm>
            <a:off x="2651760" y="5074920"/>
            <a:ext cx="347472" cy="34747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90672" y="50474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已完成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90672" y="54315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（填写）</a:t>
            </a:r>
          </a:p>
        </p:txBody>
      </p:sp>
      <p:sp>
        <p:nvSpPr>
          <p:cNvPr id="63" name="Oval 62"/>
          <p:cNvSpPr/>
          <p:nvPr/>
        </p:nvSpPr>
        <p:spPr>
          <a:xfrm>
            <a:off x="5577840" y="5074920"/>
            <a:ext cx="347472" cy="347472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16752" y="50474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500"/>
                </a:solidFill>
              </a:rPr>
              <a:t>进行中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16752" y="54315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（填写）</a:t>
            </a:r>
          </a:p>
        </p:txBody>
      </p:sp>
      <p:sp>
        <p:nvSpPr>
          <p:cNvPr id="66" name="Oval 65"/>
          <p:cNvSpPr/>
          <p:nvPr/>
        </p:nvSpPr>
        <p:spPr>
          <a:xfrm>
            <a:off x="8503920" y="5074920"/>
            <a:ext cx="347472" cy="347472"/>
          </a:xfrm>
          <a:prstGeom prst="ellipse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42832" y="50474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90B0"/>
                </a:solidFill>
              </a:rPr>
              <a:t>待启动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42832" y="54315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（填写）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0F52BA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典型案例库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FD8"/>
                </a:solidFill>
              </a:rPr>
              <a:t>真实场景 · 完整流程 · 可复用结论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03 案例库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案例通用流程图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每个案例遵循标准五步法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1874519" cy="329184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8971" y="1280160"/>
            <a:ext cx="768096" cy="768096"/>
          </a:xfrm>
          <a:prstGeom prst="ellipse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1" y="1298448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1691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业务场景
识别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90672"/>
            <a:ext cx="1417319" cy="54864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18688"/>
            <a:ext cx="1691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明确痛点
确认可行性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77439" y="2606040"/>
            <a:ext cx="256032" cy="256032"/>
          </a:xfrm>
          <a:prstGeom prst="rightArrow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97479" y="1325880"/>
            <a:ext cx="1874519" cy="329184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50691" y="1280160"/>
            <a:ext cx="768096" cy="768096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0691" y="1298448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176272"/>
            <a:ext cx="1691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提示词
设计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79" y="3090672"/>
            <a:ext cx="1417319" cy="54864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3218688"/>
            <a:ext cx="1691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任务清晰
格式规范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709160" y="2606040"/>
            <a:ext cx="256032" cy="256032"/>
          </a:xfrm>
          <a:prstGeom prst="rightArrow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0" y="1325880"/>
            <a:ext cx="1874519" cy="329184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82412" y="1280160"/>
            <a:ext cx="768096" cy="768096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2412" y="1298448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176272"/>
            <a:ext cx="1691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AI生成
初稿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3090672"/>
            <a:ext cx="1417319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218688"/>
            <a:ext cx="1691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快速产出
结构化输出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040880" y="2606040"/>
            <a:ext cx="256032" cy="256032"/>
          </a:xfrm>
          <a:prstGeom prst="rightArrow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60919" y="1325880"/>
            <a:ext cx="1874519" cy="329184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14131" y="1280160"/>
            <a:ext cx="768096" cy="768096"/>
          </a:xfrm>
          <a:prstGeom prst="ellipse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4131" y="1298448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59" y="2176272"/>
            <a:ext cx="1691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人工
复核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19" y="3090672"/>
            <a:ext cx="1417319" cy="54864"/>
          </a:xfrm>
          <a:prstGeom prst="rect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59" y="3218688"/>
            <a:ext cx="1691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事实核查
专业判断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372599" y="2606040"/>
            <a:ext cx="256032" cy="256032"/>
          </a:xfrm>
          <a:prstGeom prst="rightArrow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92640" y="1325880"/>
            <a:ext cx="1874519" cy="329184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45852" y="1280160"/>
            <a:ext cx="768096" cy="768096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5852" y="1298448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176272"/>
            <a:ext cx="1691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最终
输出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21240" y="3090672"/>
            <a:ext cx="1417319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0" y="3218688"/>
            <a:ext cx="1691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对外发布
知识沉淀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846320"/>
            <a:ext cx="11430000" cy="685800"/>
          </a:xfrm>
          <a:prstGeom prst="round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937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FD8"/>
                </a:solidFill>
              </a:rPr>
              <a:t>💡  核心原则：AI 负责效率（快速生成），人工负责准确性（最终把关）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03 案例库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案例分析八维度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每个案例从八个维度系统化记录与沉淀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4937760" y="2514600"/>
            <a:ext cx="2286000" cy="2286000"/>
          </a:xfrm>
          <a:prstGeom prst="ellipse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2578608"/>
            <a:ext cx="228600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AI
案例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2472" y="3639312"/>
            <a:ext cx="36576" cy="3657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777240"/>
            <a:ext cx="1920240" cy="685800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① 场景概述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62472" y="3639312"/>
            <a:ext cx="36576" cy="3657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777240"/>
            <a:ext cx="1920240" cy="685800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② 背景痛点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62472" y="3639312"/>
            <a:ext cx="36576" cy="3657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0" y="2103120"/>
            <a:ext cx="1920240" cy="68580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③ AI介入点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3639312"/>
            <a:ext cx="36576" cy="3657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0" y="4114800"/>
            <a:ext cx="1920240" cy="68580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④ 操作流程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2472" y="3639312"/>
            <a:ext cx="36576" cy="3657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0" y="5486400"/>
            <a:ext cx="1920240" cy="6858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⑤ 实际效果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639312"/>
            <a:ext cx="36576" cy="3657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0" y="5486400"/>
            <a:ext cx="1920240" cy="6858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⑥ 经验总结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2472" y="3639312"/>
            <a:ext cx="36576" cy="3657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114800"/>
            <a:ext cx="1920240" cy="685800"/>
          </a:xfrm>
          <a:prstGeom prst="roundRect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⑦ 风险限制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2472" y="3639312"/>
            <a:ext cx="36576" cy="3657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2103120"/>
            <a:ext cx="1920240" cy="685800"/>
          </a:xfrm>
          <a:prstGeom prst="roundRect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⑧ 工具与IO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0F52BA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方法论沉淀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FD8"/>
                </a:solidFill>
              </a:rPr>
              <a:t>场景选择 · 推进路径 · 提示词 · 复盘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04 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场景选择矩阵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「业务价值 × 落地难度」优先排序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1828800"/>
            <a:ext cx="685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FD8"/>
                </a:solidFill>
              </a:rPr>
              <a:t>业
务
价
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23444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5257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446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落地难度  →  低 ────────────── 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188720"/>
            <a:ext cx="5029200" cy="256032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1188720"/>
            <a:ext cx="502920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1600200"/>
            <a:ext cx="5029200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12618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🚀 优先推进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19385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价值大 · 易落地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450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首批试点首选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6265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快速积累经验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188720"/>
            <a:ext cx="5029200" cy="256032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1188720"/>
            <a:ext cx="5029200" cy="54864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1600200"/>
            <a:ext cx="5029200" cy="1371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2618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⚡ 谨慎评估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9385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价值大 · 难落地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450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分解后再试点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96265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需额外资源支撑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023360"/>
            <a:ext cx="5029200" cy="256032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4023360"/>
            <a:ext cx="5029200" cy="548640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4434840"/>
            <a:ext cx="5029200" cy="13716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0965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🔧 可选择性推进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731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价值小 · 易落地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2852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练手 &amp; 积累方法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79729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低优先级推进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023360"/>
            <a:ext cx="5029200" cy="256032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92240" y="4023360"/>
            <a:ext cx="5029200" cy="54864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4434840"/>
            <a:ext cx="5029200" cy="1371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0965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⛔ 当前阶段暂缓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7731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价值小 · 难落地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2852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不符合投入产出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79729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▸  集中精力在前两象限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1188720"/>
            <a:ext cx="82296" cy="5394960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97280" y="3794760"/>
            <a:ext cx="10515600" cy="8229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04 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推进落地五步法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14</a:t>
            </a:r>
          </a:p>
        </p:txBody>
      </p:sp>
      <p:sp>
        <p:nvSpPr>
          <p:cNvPr id="7" name="Chevron 6"/>
          <p:cNvSpPr/>
          <p:nvPr/>
        </p:nvSpPr>
        <p:spPr>
          <a:xfrm>
            <a:off x="274320" y="1965960"/>
            <a:ext cx="2377440" cy="2377440"/>
          </a:xfrm>
          <a:prstGeom prst="chevron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01
选场景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454456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重复性高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496519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有标准IO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538581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价值明确</a:t>
            </a:r>
          </a:p>
        </p:txBody>
      </p:sp>
      <p:sp>
        <p:nvSpPr>
          <p:cNvPr id="12" name="Chevron 11"/>
          <p:cNvSpPr/>
          <p:nvPr/>
        </p:nvSpPr>
        <p:spPr>
          <a:xfrm>
            <a:off x="2350008" y="1965960"/>
            <a:ext cx="2377440" cy="2377440"/>
          </a:xfrm>
          <a:prstGeom prst="chevron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246888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02
小试点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454456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1-2人参与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496519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快速启动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538581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控制范围</a:t>
            </a:r>
          </a:p>
        </p:txBody>
      </p:sp>
      <p:sp>
        <p:nvSpPr>
          <p:cNvPr id="17" name="Chevron 16"/>
          <p:cNvSpPr/>
          <p:nvPr/>
        </p:nvSpPr>
        <p:spPr>
          <a:xfrm>
            <a:off x="4425696" y="1965960"/>
            <a:ext cx="2377440" cy="2377440"/>
          </a:xfrm>
          <a:prstGeom prst="chevron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46888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03
快验证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454456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对比人工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496519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评估效果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538581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收集反馈</a:t>
            </a:r>
          </a:p>
        </p:txBody>
      </p:sp>
      <p:sp>
        <p:nvSpPr>
          <p:cNvPr id="22" name="Chevron 21"/>
          <p:cNvSpPr/>
          <p:nvPr/>
        </p:nvSpPr>
        <p:spPr>
          <a:xfrm>
            <a:off x="6501384" y="1965960"/>
            <a:ext cx="2377440" cy="2377440"/>
          </a:xfrm>
          <a:prstGeom prst="chevron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84264" y="246888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04
沉淀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454456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提示词固化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496519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建审核流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538581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写案例</a:t>
            </a:r>
          </a:p>
        </p:txBody>
      </p:sp>
      <p:sp>
        <p:nvSpPr>
          <p:cNvPr id="27" name="Chevron 26"/>
          <p:cNvSpPr/>
          <p:nvPr/>
        </p:nvSpPr>
        <p:spPr>
          <a:xfrm>
            <a:off x="8577072" y="1965960"/>
            <a:ext cx="2377440" cy="237744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9952" y="246888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05
推广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4232" y="454456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跨团队复用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4232" y="496519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持续优化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538581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· 复盘机制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1188720"/>
            <a:ext cx="11612880" cy="548640"/>
          </a:xfrm>
          <a:prstGeom prst="round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1234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FD8"/>
                </a:solidFill>
              </a:rPr>
              <a:t>核心原则：先验证价值，再沉淀方法，最后规模推广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04 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人机协作分工图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明确边界，发挥各自优势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097280"/>
            <a:ext cx="4023360" cy="5303520"/>
          </a:xfrm>
          <a:prstGeom prst="roundRect">
            <a:avLst/>
          </a:prstGeom>
          <a:solidFill>
            <a:srgbClr val="08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097280"/>
            <a:ext cx="4023360" cy="62179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4023360" cy="164592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🤖  AI 主导区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" y="1993391"/>
            <a:ext cx="3694176" cy="621792"/>
          </a:xfrm>
          <a:prstGeom prst="roundRect">
            <a:avLst/>
          </a:prstGeom>
          <a:solidFill>
            <a:srgbClr val="0F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信息整理归纳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2743199"/>
            <a:ext cx="3694176" cy="621792"/>
          </a:xfrm>
          <a:prstGeom prst="roundRect">
            <a:avLst/>
          </a:prstGeom>
          <a:solidFill>
            <a:srgbClr val="0F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52927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初稿快速生成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" y="3493007"/>
            <a:ext cx="3694176" cy="621792"/>
          </a:xfrm>
          <a:prstGeom prst="roundRect">
            <a:avLst/>
          </a:prstGeom>
          <a:solidFill>
            <a:srgbClr val="0F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02735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结构化模板输出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" y="4242816"/>
            <a:ext cx="3694176" cy="621792"/>
          </a:xfrm>
          <a:prstGeom prst="roundRect">
            <a:avLst/>
          </a:prstGeom>
          <a:solidFill>
            <a:srgbClr val="0F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52544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批量格式转换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097280"/>
            <a:ext cx="3291840" cy="5303520"/>
          </a:xfrm>
          <a:prstGeom prst="round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1097280"/>
            <a:ext cx="3291840" cy="621792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1554480"/>
            <a:ext cx="3291840" cy="16459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18872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🤝  协作区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9431" y="1993391"/>
            <a:ext cx="2962656" cy="621792"/>
          </a:xfrm>
          <a:prstGeom prst="round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79" y="2103120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提示词设计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99431" y="2743199"/>
            <a:ext cx="2962656" cy="621792"/>
          </a:xfrm>
          <a:prstGeom prst="round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2852927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输出框架制定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9431" y="3493007"/>
            <a:ext cx="2962656" cy="621792"/>
          </a:xfrm>
          <a:prstGeom prst="round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79" y="3602735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复核标准确认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99431" y="4242816"/>
            <a:ext cx="2962656" cy="621792"/>
          </a:xfrm>
          <a:prstGeom prst="round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79" y="4352544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迭代优化调整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1097280"/>
            <a:ext cx="4023360" cy="5303520"/>
          </a:xfrm>
          <a:prstGeom prst="roundRect">
            <a:avLst/>
          </a:prstGeom>
          <a:solidFill>
            <a:srgbClr val="3D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18120" y="1097280"/>
            <a:ext cx="4023360" cy="62179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8120" y="1554480"/>
            <a:ext cx="4023360" cy="16459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1188720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👤  人工主导区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82712" y="1993391"/>
            <a:ext cx="3694176" cy="621792"/>
          </a:xfrm>
          <a:prstGeom prst="round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103120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最终决策判断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82712" y="2743199"/>
            <a:ext cx="3694176" cy="621792"/>
          </a:xfrm>
          <a:prstGeom prst="round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852927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业务价值评估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82712" y="3493007"/>
            <a:ext cx="3694176" cy="621792"/>
          </a:xfrm>
          <a:prstGeom prst="round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3602735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对外内容审核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82712" y="4242816"/>
            <a:ext cx="3694176" cy="621792"/>
          </a:xfrm>
          <a:prstGeom prst="round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4352544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敏感信息处理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04 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提示词设计六要素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结构化模板，稳定产出高质量结果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43000"/>
            <a:ext cx="2651760" cy="16002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143000"/>
            <a:ext cx="2651760" cy="475488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90472"/>
            <a:ext cx="2651760" cy="128016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0700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① 角色定义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2468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你现在扮演：___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143000"/>
            <a:ext cx="2651760" cy="16002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54680" y="1143000"/>
            <a:ext cx="2651760" cy="475488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1490472"/>
            <a:ext cx="2651760" cy="128016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20700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② 任务目标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737360"/>
            <a:ext cx="2468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你需要完成：___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926080"/>
            <a:ext cx="2651760" cy="16002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2926080"/>
            <a:ext cx="2651760" cy="475488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273552"/>
            <a:ext cx="2651760" cy="128016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9008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③ 背景信息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20440"/>
            <a:ext cx="2468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相关背景如下：___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2926080"/>
            <a:ext cx="2651760" cy="16002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54680" y="2926080"/>
            <a:ext cx="2651760" cy="475488"/>
          </a:xfrm>
          <a:prstGeom prst="roundRect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54680" y="3273552"/>
            <a:ext cx="2651760" cy="128016"/>
          </a:xfrm>
          <a:prstGeom prst="rect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299008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④ 输入材料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520440"/>
            <a:ext cx="2468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请基于以下内容：___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4709160"/>
            <a:ext cx="2651760" cy="16002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" y="4709160"/>
            <a:ext cx="2651760" cy="47548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056632"/>
            <a:ext cx="2651760" cy="12801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7316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⑤ 输出格式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03520"/>
            <a:ext cx="2468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请按以下格式：___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4709160"/>
            <a:ext cx="2651760" cy="160020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154680" y="4709160"/>
            <a:ext cx="2651760" cy="475488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54680" y="5056632"/>
            <a:ext cx="2651760" cy="12801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477316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⑥ 注意事项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303520"/>
            <a:ext cx="2468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请特别注意：___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1097280"/>
            <a:ext cx="5760720" cy="5394960"/>
          </a:xfrm>
          <a:prstGeom prst="round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123444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FD8"/>
                </a:solidFill>
              </a:rPr>
              <a:t>提示词质量决定输出质量</a:t>
            </a:r>
          </a:p>
        </p:txBody>
      </p:sp>
      <p:sp>
        <p:nvSpPr>
          <p:cNvPr id="40" name="Oval 39"/>
          <p:cNvSpPr/>
          <p:nvPr/>
        </p:nvSpPr>
        <p:spPr>
          <a:xfrm>
            <a:off x="6217920" y="1984248"/>
            <a:ext cx="310896" cy="310896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1938528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任务描述清晰具体</a:t>
            </a:r>
          </a:p>
        </p:txBody>
      </p:sp>
      <p:sp>
        <p:nvSpPr>
          <p:cNvPr id="42" name="Oval 41"/>
          <p:cNvSpPr/>
          <p:nvPr/>
        </p:nvSpPr>
        <p:spPr>
          <a:xfrm>
            <a:off x="6217920" y="2642615"/>
            <a:ext cx="310896" cy="310896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2596896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背景信息充分完整</a:t>
            </a:r>
          </a:p>
        </p:txBody>
      </p:sp>
      <p:sp>
        <p:nvSpPr>
          <p:cNvPr id="44" name="Oval 43"/>
          <p:cNvSpPr/>
          <p:nvPr/>
        </p:nvSpPr>
        <p:spPr>
          <a:xfrm>
            <a:off x="6217920" y="3300983"/>
            <a:ext cx="310896" cy="310896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3255263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输出格式预先定义</a:t>
            </a:r>
          </a:p>
        </p:txBody>
      </p:sp>
      <p:sp>
        <p:nvSpPr>
          <p:cNvPr id="46" name="Oval 45"/>
          <p:cNvSpPr/>
          <p:nvPr/>
        </p:nvSpPr>
        <p:spPr>
          <a:xfrm>
            <a:off x="6217920" y="3959351"/>
            <a:ext cx="310896" cy="310896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3913631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✓ 评价标准提前说明</a:t>
            </a:r>
          </a:p>
        </p:txBody>
      </p:sp>
      <p:sp>
        <p:nvSpPr>
          <p:cNvPr id="48" name="Oval 47"/>
          <p:cNvSpPr/>
          <p:nvPr/>
        </p:nvSpPr>
        <p:spPr>
          <a:xfrm>
            <a:off x="6217920" y="4617719"/>
            <a:ext cx="310896" cy="310896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4571999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✗ 任务描述模糊宽泛</a:t>
            </a:r>
          </a:p>
        </p:txBody>
      </p:sp>
      <p:sp>
        <p:nvSpPr>
          <p:cNvPr id="50" name="Oval 49"/>
          <p:cNvSpPr/>
          <p:nvPr/>
        </p:nvSpPr>
        <p:spPr>
          <a:xfrm>
            <a:off x="6217920" y="5276087"/>
            <a:ext cx="310896" cy="310896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5230367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✗ 缺少背景直接问答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0F52BA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效果与价值证明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FD8"/>
                </a:solidFill>
              </a:rPr>
              <a:t>效率 · 质量 · 组织价值 · 关键指标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05 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优化前 vs 优化后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AI 介入前后的关键指标对比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3200400"/>
            <a:ext cx="1463040" cy="777240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6672" y="3218688"/>
            <a:ext cx="14447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81428"/>
                </a:solidFill>
              </a:rPr>
              <a:t>AI
介入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97280"/>
            <a:ext cx="4800600" cy="5394960"/>
          </a:xfrm>
          <a:prstGeom prst="round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1097280"/>
            <a:ext cx="4800600" cy="621792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536192"/>
            <a:ext cx="4800600" cy="1828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161288"/>
            <a:ext cx="4389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⚡  优化前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20240"/>
            <a:ext cx="4572000" cy="749808"/>
          </a:xfrm>
          <a:prstGeom prst="roundRect">
            <a:avLst/>
          </a:prstGeom>
          <a:solidFill>
            <a:srgbClr val="3A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4825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0B0"/>
                </a:solidFill>
              </a:rPr>
              <a:t>处理时长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04825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4D4D"/>
                </a:solidFill>
              </a:rPr>
              <a:t>3-5 小时/次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98064"/>
            <a:ext cx="4572000" cy="749808"/>
          </a:xfrm>
          <a:prstGeom prst="roundRect">
            <a:avLst/>
          </a:prstGeom>
          <a:solidFill>
            <a:srgbClr val="3A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0B0"/>
                </a:solidFill>
              </a:rPr>
              <a:t>人力投入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4D4D"/>
                </a:solidFill>
              </a:rPr>
              <a:t>需 2-3 人协作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75887"/>
            <a:ext cx="4572000" cy="749808"/>
          </a:xfrm>
          <a:prstGeom prst="roundRect">
            <a:avLst/>
          </a:prstGeom>
          <a:solidFill>
            <a:srgbClr val="3A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03903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0B0"/>
                </a:solidFill>
              </a:rPr>
              <a:t>起稿周期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803903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4D4D"/>
                </a:solidFill>
              </a:rPr>
              <a:t>需 1-2 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53712"/>
            <a:ext cx="4572000" cy="749808"/>
          </a:xfrm>
          <a:prstGeom prst="roundRect">
            <a:avLst/>
          </a:prstGeom>
          <a:solidFill>
            <a:srgbClr val="3A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8172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0B0"/>
                </a:solidFill>
              </a:rPr>
              <a:t>质量一致性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68172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4D4D"/>
                </a:solidFill>
              </a:rPr>
              <a:t>偏差较大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31536"/>
            <a:ext cx="4572000" cy="749808"/>
          </a:xfrm>
          <a:prstGeom prst="roundRect">
            <a:avLst/>
          </a:prstGeom>
          <a:solidFill>
            <a:srgbClr val="3A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5955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0B0"/>
                </a:solidFill>
              </a:rPr>
              <a:t>知识复用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55955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4D4D"/>
                </a:solidFill>
              </a:rPr>
              <a:t>几乎为零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1097280"/>
            <a:ext cx="4800600" cy="5394960"/>
          </a:xfrm>
          <a:prstGeom prst="round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40880" y="1097280"/>
            <a:ext cx="4800600" cy="6217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1536192"/>
            <a:ext cx="480060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1161288"/>
            <a:ext cx="4389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✅  优化后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1920240"/>
            <a:ext cx="4572000" cy="749808"/>
          </a:xfrm>
          <a:prstGeom prst="roundRect">
            <a:avLst/>
          </a:prstGeom>
          <a:solidFill>
            <a:srgbClr val="0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204825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0B0"/>
                </a:solidFill>
              </a:rPr>
              <a:t>处理时长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0482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ECC71"/>
                </a:solidFill>
              </a:rPr>
              <a:t>30-60 分钟/次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040" y="2798064"/>
            <a:ext cx="4572000" cy="749808"/>
          </a:xfrm>
          <a:prstGeom prst="roundRect">
            <a:avLst/>
          </a:prstGeom>
          <a:solidFill>
            <a:srgbClr val="0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0B0"/>
                </a:solidFill>
              </a:rPr>
              <a:t>人力投入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ECC71"/>
                </a:solidFill>
              </a:rPr>
              <a:t>1 人主导完成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78040" y="3675887"/>
            <a:ext cx="4572000" cy="749808"/>
          </a:xfrm>
          <a:prstGeom prst="roundRect">
            <a:avLst/>
          </a:prstGeom>
          <a:solidFill>
            <a:srgbClr val="0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3803903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0B0"/>
                </a:solidFill>
              </a:rPr>
              <a:t>起稿周期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803903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ECC71"/>
                </a:solidFill>
              </a:rPr>
              <a:t>当天完成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78040" y="4553712"/>
            <a:ext cx="4572000" cy="749808"/>
          </a:xfrm>
          <a:prstGeom prst="roundRect">
            <a:avLst/>
          </a:prstGeom>
          <a:solidFill>
            <a:srgbClr val="0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468172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0B0"/>
                </a:solidFill>
              </a:rPr>
              <a:t>质量一致性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68172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ECC71"/>
                </a:solidFill>
              </a:rPr>
              <a:t>稳定可控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78040" y="5431536"/>
            <a:ext cx="4572000" cy="749808"/>
          </a:xfrm>
          <a:prstGeom prst="roundRect">
            <a:avLst/>
          </a:prstGeom>
          <a:solidFill>
            <a:srgbClr val="0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555955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0B0"/>
                </a:solidFill>
              </a:rPr>
              <a:t>知识复用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55955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ECC71"/>
                </a:solidFill>
              </a:rPr>
              <a:t>模板持续沉淀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05 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三层组织价值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从个人效率到组织能力的全面提升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1076" y="1280160"/>
            <a:ext cx="8686800" cy="1508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5395" y="141731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组织价值 — 最终目标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5395" y="2029967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EEFF"/>
                </a:solidFill>
              </a:rPr>
              <a:t>方法可复制  ·  规模化能力  ·  组织竞争力持续增强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65476" y="2852928"/>
            <a:ext cx="6858000" cy="1508760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9796" y="299008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团队价值 — 中间层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9796" y="360273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EEFF"/>
                </a:solidFill>
              </a:rPr>
              <a:t>协作标准化  ·  知识沉淀  ·  经验快速复用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" y="4425696"/>
            <a:ext cx="10515600" cy="150876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0996" y="456285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个人价值 — 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" y="517550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EEFF"/>
                </a:solidFill>
              </a:rPr>
              <a:t>减少重复劳动  ·  提升输出效率  ·  降低起稿门槛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0B0"/>
                </a:solidFill>
              </a:rPr>
              <a:t>←  个体受益  ·  基础驱动  ·  组织增强 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05 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关键价值指标（示例）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697480" cy="338328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2697480" cy="128016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BFD8"/>
                </a:solidFill>
              </a:rPr>
              <a:t>↓ 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9232"/>
            <a:ext cx="2240280" cy="7315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4553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处理时长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75887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90B0"/>
                </a:solidFill>
              </a:rPr>
              <a:t>3-5h → 30-60min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697480" cy="338328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697480" cy="12801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600200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ECC71"/>
                </a:solidFill>
              </a:rPr>
              <a:t>↑ 3×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999232"/>
            <a:ext cx="224028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14553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产出速度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675887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90B0"/>
                </a:solidFill>
              </a:rPr>
              <a:t>同等时间3倍产出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371600"/>
            <a:ext cx="2697480" cy="338328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2697480" cy="128016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600200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9500"/>
                </a:solidFill>
              </a:rPr>
              <a:t>↑ 90%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999232"/>
            <a:ext cx="2240280" cy="7315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14553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初稿可用率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675887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90B0"/>
                </a:solidFill>
              </a:rPr>
              <a:t>优化后可直接使用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1371600"/>
            <a:ext cx="2697480" cy="338328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20" y="1371600"/>
            <a:ext cx="2697480" cy="128016"/>
          </a:xfrm>
          <a:prstGeom prst="rect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600200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9157CE"/>
                </a:solidFill>
              </a:rPr>
              <a:t>N+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2999232"/>
            <a:ext cx="2240280" cy="73152"/>
          </a:xfrm>
          <a:prstGeom prst="rect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314553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覆盖场景数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675887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90B0"/>
                </a:solidFill>
              </a:rPr>
              <a:t>已落地场景（填写）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029200"/>
            <a:ext cx="11338560" cy="1371600"/>
          </a:xfrm>
          <a:prstGeom prst="round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3892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📌  以上数据为示例，请替换为项目真实数据；对比展示比单点数据更有说服力。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0F52BA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风险与治理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FD8"/>
                </a:solidFill>
              </a:rPr>
              <a:t>安全边界 · 审核机制 · 治理建议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06 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风险评估矩阵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按「影响程度 × 发生概率」分级应对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1920240"/>
            <a:ext cx="685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FD8"/>
                </a:solidFill>
              </a:rPr>
              <a:t>影
响
程
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1887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5257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4465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发生概率  →  低 ─────────────── 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170432"/>
            <a:ext cx="5029200" cy="2578608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1170432"/>
            <a:ext cx="5029200" cy="53035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1563624"/>
            <a:ext cx="5029200" cy="1371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1261872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⚠️  重点监控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18562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风险：输出事实性错误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286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状态：影响大·概率中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679191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对策：必须人工审核所有对外内容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170432"/>
            <a:ext cx="5029200" cy="2578608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1170432"/>
            <a:ext cx="5029200" cy="530352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1563624"/>
            <a:ext cx="5029200" cy="1371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261872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🚨  关键风险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7" y="18562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风险：敏感信息泄露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7" y="2286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状态：影响大·概率高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7" y="2679191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对策：严格禁止输入敏感数据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041648"/>
            <a:ext cx="5029200" cy="2578608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4041648"/>
            <a:ext cx="5029200" cy="53035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4434840"/>
            <a:ext cx="5029200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133087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✅  可接受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7274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风险：格式不符预期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15721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状态：影响小·概率中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55504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对策：迭代优化提示词即可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041648"/>
            <a:ext cx="5029200" cy="2578608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92240" y="4041648"/>
            <a:ext cx="5029200" cy="530352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4434840"/>
            <a:ext cx="5029200" cy="13716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133087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🔍  持续观察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7" y="47274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风险：逻辑不够严谨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7" y="515721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状态：影响小·概率高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7" y="55504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对策：审核+持续优化提示词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1170432"/>
            <a:ext cx="82296" cy="5449824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97280" y="3813048"/>
            <a:ext cx="10515600" cy="82296"/>
          </a:xfrm>
          <a:prstGeom prst="rect">
            <a:avLst/>
          </a:prstGeom>
          <a:solidFill>
            <a:srgbClr val="7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06 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AI 与人工职责边界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清晰界定边界，合理分工才能最大化价值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097280"/>
            <a:ext cx="4983480" cy="5394960"/>
          </a:xfrm>
          <a:prstGeom prst="roundRect">
            <a:avLst/>
          </a:prstGeom>
          <a:solidFill>
            <a:srgbClr val="08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097280"/>
            <a:ext cx="4983480" cy="64008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4983480" cy="22860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170432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🤖  AI 可主导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4754880" cy="960120"/>
          </a:xfrm>
          <a:prstGeom prst="roundRect">
            <a:avLst/>
          </a:prstGeom>
          <a:solidFill>
            <a:srgbClr val="0F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2084832"/>
            <a:ext cx="594360" cy="59436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03120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011680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信息整理归纳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4231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大量文本的结构化梳理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99232"/>
            <a:ext cx="4754880" cy="960120"/>
          </a:xfrm>
          <a:prstGeom prst="roundRect">
            <a:avLst/>
          </a:prstGeom>
          <a:solidFill>
            <a:srgbClr val="0F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8" y="3163824"/>
            <a:ext cx="594360" cy="59436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82112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09067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初稿快速生成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021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基于模板的批量产出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78224"/>
            <a:ext cx="4754880" cy="960120"/>
          </a:xfrm>
          <a:prstGeom prst="roundRect">
            <a:avLst/>
          </a:prstGeom>
          <a:solidFill>
            <a:srgbClr val="0F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8" y="4242816"/>
            <a:ext cx="594360" cy="59436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61104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169663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格式转换输出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58114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原始材料到规范格式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57216"/>
            <a:ext cx="4754880" cy="960120"/>
          </a:xfrm>
          <a:prstGeom prst="roundRect">
            <a:avLst/>
          </a:prstGeom>
          <a:solidFill>
            <a:srgbClr val="0F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6928" y="5321807"/>
            <a:ext cx="594360" cy="59436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340096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5248655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FAQ摘要生成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56601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标准化知识提炼处理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1097280"/>
            <a:ext cx="4983480" cy="5394960"/>
          </a:xfrm>
          <a:prstGeom prst="roundRect">
            <a:avLst/>
          </a:prstGeom>
          <a:solidFill>
            <a:srgbClr val="3D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0" y="1097280"/>
            <a:ext cx="4983480" cy="64008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0" y="1508760"/>
            <a:ext cx="4983480" cy="2286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1170432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👤  人工必须主导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95160" y="1920240"/>
            <a:ext cx="4754880" cy="960120"/>
          </a:xfrm>
          <a:prstGeom prst="round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04888" y="2084832"/>
            <a:ext cx="594360" cy="59436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04888" y="2103120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011680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最终判断决策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24231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关键结论需人工确认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95160" y="2999232"/>
            <a:ext cx="4754880" cy="960120"/>
          </a:xfrm>
          <a:prstGeom prst="round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04888" y="3163824"/>
            <a:ext cx="594360" cy="59436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04888" y="3182112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309067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对外内容审核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35021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所有对外发布100%复核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95160" y="4078224"/>
            <a:ext cx="4754880" cy="960120"/>
          </a:xfrm>
          <a:prstGeom prst="round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104888" y="4242816"/>
            <a:ext cx="594360" cy="59436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04888" y="4261104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4169663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业务价值评估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458114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与业务目标的对齐判断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95160" y="5157216"/>
            <a:ext cx="4754880" cy="960120"/>
          </a:xfrm>
          <a:prstGeom prst="round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04888" y="5321807"/>
            <a:ext cx="594360" cy="59436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04888" y="5340096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20" y="5248655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敏感信息处理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56601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90B0"/>
                </a:solidFill>
              </a:rPr>
              <a:t>严禁将敏感数据输入AI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77840" y="1097280"/>
            <a:ext cx="1097280" cy="5394960"/>
          </a:xfrm>
          <a:prstGeom prst="round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0" y="2834640"/>
            <a:ext cx="914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FD8"/>
                </a:solidFill>
              </a:rPr>
              <a:t>边
界
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06 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AI 使用治理架构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三大机制保障安全、有效、可持续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897880"/>
            <a:ext cx="10698480" cy="59436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6188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090B0"/>
                </a:solidFill>
              </a:rPr>
              <a:t>AI 使用治理框架  ·  三机制协同保障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10698480" cy="384048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1572768"/>
            <a:ext cx="2926080" cy="411480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1353312"/>
            <a:ext cx="3145536" cy="493776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389888"/>
            <a:ext cx="3145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安全规范</a:t>
            </a:r>
          </a:p>
        </p:txBody>
      </p:sp>
      <p:sp>
        <p:nvSpPr>
          <p:cNvPr id="14" name="Oval 13"/>
          <p:cNvSpPr/>
          <p:nvPr/>
        </p:nvSpPr>
        <p:spPr>
          <a:xfrm>
            <a:off x="1993391" y="1783080"/>
            <a:ext cx="1133856" cy="1133856"/>
          </a:xfrm>
          <a:prstGeom prst="ellipse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1" y="1810512"/>
            <a:ext cx="11338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39" y="3127248"/>
            <a:ext cx="2651760" cy="566928"/>
          </a:xfrm>
          <a:prstGeom prst="roundRect">
            <a:avLst/>
          </a:prstGeom>
          <a:solidFill>
            <a:srgbClr val="16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321868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明确可/不可输入内容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39" y="3803904"/>
            <a:ext cx="2651760" cy="566928"/>
          </a:xfrm>
          <a:prstGeom prst="roundRect">
            <a:avLst/>
          </a:prstGeom>
          <a:solidFill>
            <a:srgbClr val="16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3895344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数据分级脱敏要求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39" y="4480560"/>
            <a:ext cx="2651760" cy="566928"/>
          </a:xfrm>
          <a:prstGeom prst="roundRect">
            <a:avLst/>
          </a:prstGeom>
          <a:solidFill>
            <a:srgbClr val="16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4572000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工具权限统一管理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572768"/>
            <a:ext cx="2926080" cy="411480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3712" y="1353312"/>
            <a:ext cx="3145536" cy="493776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389888"/>
            <a:ext cx="3145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审核机制</a:t>
            </a:r>
          </a:p>
        </p:txBody>
      </p:sp>
      <p:sp>
        <p:nvSpPr>
          <p:cNvPr id="25" name="Oval 24"/>
          <p:cNvSpPr/>
          <p:nvPr/>
        </p:nvSpPr>
        <p:spPr>
          <a:xfrm>
            <a:off x="5559552" y="1783080"/>
            <a:ext cx="1133856" cy="1133856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9552" y="1810512"/>
            <a:ext cx="11338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127248"/>
            <a:ext cx="2651760" cy="566928"/>
          </a:xfrm>
          <a:prstGeom prst="roundRect">
            <a:avLst/>
          </a:prstGeom>
          <a:solidFill>
            <a:srgbClr val="16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321868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对外输出100%人工审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3803904"/>
            <a:ext cx="2651760" cy="566928"/>
          </a:xfrm>
          <a:prstGeom prst="roundRect">
            <a:avLst/>
          </a:prstGeom>
          <a:solidFill>
            <a:srgbClr val="16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2" y="3895344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建立审核清单与标准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4480560"/>
            <a:ext cx="2651760" cy="566928"/>
          </a:xfrm>
          <a:prstGeom prst="roundRect">
            <a:avLst/>
          </a:prstGeom>
          <a:solidFill>
            <a:srgbClr val="16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9472" y="4572000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设定责任人与时限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572768"/>
            <a:ext cx="2926080" cy="411480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19872" y="1353312"/>
            <a:ext cx="3145536" cy="493776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2" y="1389888"/>
            <a:ext cx="3145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复盘机制</a:t>
            </a:r>
          </a:p>
        </p:txBody>
      </p:sp>
      <p:sp>
        <p:nvSpPr>
          <p:cNvPr id="36" name="Oval 35"/>
          <p:cNvSpPr/>
          <p:nvPr/>
        </p:nvSpPr>
        <p:spPr>
          <a:xfrm>
            <a:off x="9125712" y="1783080"/>
            <a:ext cx="1133856" cy="1133856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25712" y="1810512"/>
            <a:ext cx="11338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3127248"/>
            <a:ext cx="2651760" cy="566928"/>
          </a:xfrm>
          <a:prstGeom prst="roundRect">
            <a:avLst/>
          </a:prstGeom>
          <a:solidFill>
            <a:srgbClr val="16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321868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定期案例复盘总结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66760" y="3803904"/>
            <a:ext cx="2651760" cy="566928"/>
          </a:xfrm>
          <a:prstGeom prst="roundRect">
            <a:avLst/>
          </a:prstGeom>
          <a:solidFill>
            <a:srgbClr val="16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2" y="3895344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持续更新提示词库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4480560"/>
            <a:ext cx="2651760" cy="566928"/>
          </a:xfrm>
          <a:prstGeom prst="roundRect">
            <a:avLst/>
          </a:prstGeom>
          <a:solidFill>
            <a:srgbClr val="16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5632" y="4572000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D8F0"/>
                </a:solidFill>
              </a:rPr>
              <a:t>方法论版本迭代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0F52BA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对外表达素材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FD8"/>
                </a:solidFill>
              </a:rPr>
              <a:t>标准话术 · 常见问答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07 对外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常见问答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FAQ — 快速应答四类高频问题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43000"/>
            <a:ext cx="5623560" cy="246888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143000"/>
            <a:ext cx="530352" cy="2468880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143000"/>
            <a:ext cx="137160" cy="246888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1280160"/>
            <a:ext cx="548640" cy="548640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29844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29844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为什么从这些场景开始？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2011680"/>
            <a:ext cx="548640" cy="548640"/>
          </a:xfrm>
          <a:prstGeom prst="ellipse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029967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FD8"/>
                </a:solidFill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29967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价值大 + 易落地 + 有标准IO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52374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优先选重复性高的日常任务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143000"/>
            <a:ext cx="5623560" cy="246888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59" y="1143000"/>
            <a:ext cx="530352" cy="246888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02551" y="1143000"/>
            <a:ext cx="137160" cy="24688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31151" y="1280160"/>
            <a:ext cx="548640" cy="54864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1" y="129844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129844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如何控制风险？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1" y="2011680"/>
            <a:ext cx="548640" cy="548640"/>
          </a:xfrm>
          <a:prstGeom prst="ellipse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1" y="2029967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FD8"/>
                </a:solidFill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2029967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明确输入边界 + 人工审核机制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252374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对外内容100%人工复核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3931920"/>
            <a:ext cx="5623560" cy="246888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" y="3931920"/>
            <a:ext cx="530352" cy="246888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3931920"/>
            <a:ext cx="137160" cy="246888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1832" y="4069080"/>
            <a:ext cx="548640" cy="548640"/>
          </a:xfrm>
          <a:prstGeom prst="ellipse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408736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08736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如何说服团队使用？</a:t>
            </a:r>
          </a:p>
        </p:txBody>
      </p:sp>
      <p:sp>
        <p:nvSpPr>
          <p:cNvPr id="34" name="Oval 33"/>
          <p:cNvSpPr/>
          <p:nvPr/>
        </p:nvSpPr>
        <p:spPr>
          <a:xfrm>
            <a:off x="941832" y="4800600"/>
            <a:ext cx="548640" cy="548640"/>
          </a:xfrm>
          <a:prstGeom prst="ellipse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48188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FD8"/>
                </a:solidFill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48188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真实案例数据说话 + 低门槛上手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31266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先小范围试点再推广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3931920"/>
            <a:ext cx="5623560" cy="246888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59" y="3931920"/>
            <a:ext cx="530352" cy="24688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02551" y="3931920"/>
            <a:ext cx="137160" cy="2468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31151" y="406908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31151" y="408736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19" y="408736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如何判断是否值得推广？</a:t>
            </a:r>
          </a:p>
        </p:txBody>
      </p:sp>
      <p:sp>
        <p:nvSpPr>
          <p:cNvPr id="44" name="Oval 43"/>
          <p:cNvSpPr/>
          <p:nvPr/>
        </p:nvSpPr>
        <p:spPr>
          <a:xfrm>
            <a:off x="6931151" y="4800600"/>
            <a:ext cx="548640" cy="548640"/>
          </a:xfrm>
          <a:prstGeom prst="ellipse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31151" y="48188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FD8"/>
                </a:solidFill>
              </a:rP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19" y="48188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效率↑ 明显 + 质量稳定 + 可复用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19" y="531266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D8F0"/>
                </a:solidFill>
              </a:rPr>
              <a:t>形成模板后再扩大使用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0F52BA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附录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FD8"/>
                </a:solidFill>
              </a:rPr>
              <a:t>工具清单 · 模板 · 资料索引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"/>
            <a:ext cx="1280160" cy="34747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D8F0"/>
                </a:solidFill>
              </a:rPr>
              <a:t>08 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配套资源总览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FD8"/>
                </a:solidFill>
              </a:rPr>
              <a:t>支撑项目推进的核心资料与工具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473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090B0"/>
                </a:solidFill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70432"/>
            <a:ext cx="3703320" cy="24231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3703320" cy="128016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1353312"/>
            <a:ext cx="804672" cy="804672"/>
          </a:xfrm>
          <a:prstGeom prst="ellipse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0744"/>
            <a:ext cx="8046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173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工具清单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3911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工具A / 工具B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9631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使用场景 · 注意事项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170432"/>
            <a:ext cx="3703320" cy="24231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170432"/>
            <a:ext cx="3703320" cy="128016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34840" y="1353312"/>
            <a:ext cx="804672" cy="804672"/>
          </a:xfrm>
          <a:prstGeom prst="ellipse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380744"/>
            <a:ext cx="8046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4173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模板库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03911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案例模板 / 提示词模板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49631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复盘模板 / 对外摘要模板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170432"/>
            <a:ext cx="3703320" cy="24231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19" y="1170432"/>
            <a:ext cx="3703320" cy="128016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0" y="1353312"/>
            <a:ext cx="804672" cy="804672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380744"/>
            <a:ext cx="8046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4173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数据看板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199" y="203911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效率指标追踪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9" y="249631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质量指标 · 覆盖场景数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3959352"/>
            <a:ext cx="3703320" cy="24231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959352"/>
            <a:ext cx="3703320" cy="12801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" y="4142232"/>
            <a:ext cx="804672" cy="80467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69664"/>
            <a:ext cx="8046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20624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知识库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2803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历史汇报材料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28523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案例文档 · 方法论文档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79" y="3959352"/>
            <a:ext cx="3703320" cy="24231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79" y="3959352"/>
            <a:ext cx="3703320" cy="128016"/>
          </a:xfrm>
          <a:prstGeom prst="rect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34840" y="4142232"/>
            <a:ext cx="804672" cy="804672"/>
          </a:xfrm>
          <a:prstGeom prst="ellipse">
            <a:avLst/>
          </a:prstGeom>
          <a:solidFill>
            <a:srgbClr val="915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169664"/>
            <a:ext cx="8046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420624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FAQ手册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59" y="482803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常见问题解答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59" y="528523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新手上手指南 · 避坑指南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19" y="3959352"/>
            <a:ext cx="3703320" cy="2423160"/>
          </a:xfrm>
          <a:prstGeom prst="round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75319" y="3959352"/>
            <a:ext cx="3703320" cy="12801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12480" y="4142232"/>
            <a:ext cx="804672" cy="804672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4169664"/>
            <a:ext cx="8046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20624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使用规范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199" y="482803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数据安全规范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199" y="528523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· 审核机制手册 · 权限说明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6400800" cy="6400800"/>
          </a:xfrm>
          <a:prstGeom prst="ellipse">
            <a:avLst/>
          </a:prstGeom>
          <a:solidFill>
            <a:srgbClr val="0F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0F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2188952" cy="91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</a:rPr>
              <a:t>谢  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00BFD8"/>
                </a:solidFill>
              </a:rPr>
              <a:t>欢迎提问与交流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90B0"/>
                </a:solidFill>
              </a:rPr>
              <a:t>项目团队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